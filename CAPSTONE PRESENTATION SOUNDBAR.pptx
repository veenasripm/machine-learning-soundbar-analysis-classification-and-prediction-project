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8" r:id="rId6"/>
    <p:sldId id="263" r:id="rId7"/>
    <p:sldId id="259" r:id="rId8"/>
    <p:sldId id="260" r:id="rId9"/>
    <p:sldId id="261" r:id="rId10"/>
    <p:sldId id="264" r:id="rId11"/>
    <p:sldId id="269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ena !" initials="v!" lastIdx="1" clrIdx="0">
    <p:extLst>
      <p:ext uri="{19B8F6BF-5375-455C-9EA6-DF929625EA0E}">
        <p15:presenceInfo xmlns:p15="http://schemas.microsoft.com/office/powerpoint/2012/main" userId="8ba556cfefc1b8b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1T10:12:12.311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9918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89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0643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42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7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32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2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4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35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73E8115-6ED7-440E-AB06-368FD524F334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7EA19D9-51E1-4068-B9C2-BD20E371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1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F156-8D10-EFDC-5780-2E7F19448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44" y="842928"/>
            <a:ext cx="9418320" cy="1377758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cs typeface="Calibri" panose="020F0502020204030204" pitchFamily="34" charset="0"/>
              </a:rPr>
              <a:t>SOUND BAR CATEGORY CLUSTERING - PREDICTION AND ANALYSIS</a:t>
            </a:r>
            <a:endParaRPr lang="en-IN" sz="3200" b="1" dirty="0"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E3BEE-DA97-317B-0EB8-6F4341D85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8835" y="3524639"/>
            <a:ext cx="9418320" cy="2225351"/>
          </a:xfrm>
        </p:spPr>
        <p:txBody>
          <a:bodyPr>
            <a:noAutofit/>
          </a:bodyPr>
          <a:lstStyle/>
          <a:p>
            <a:pPr algn="ctr"/>
            <a:r>
              <a:rPr lang="en-GB" sz="1800" dirty="0"/>
              <a:t>PRESENTED BY</a:t>
            </a:r>
          </a:p>
          <a:p>
            <a:pPr algn="r">
              <a:lnSpc>
                <a:spcPct val="100000"/>
              </a:lnSpc>
            </a:pPr>
            <a:r>
              <a:rPr lang="en-GB" sz="1800" dirty="0"/>
              <a:t>VEENA SRI PM</a:t>
            </a:r>
          </a:p>
          <a:p>
            <a:pPr algn="r">
              <a:lnSpc>
                <a:spcPct val="100000"/>
              </a:lnSpc>
            </a:pPr>
            <a:r>
              <a:rPr lang="en-GB" sz="1800" dirty="0"/>
              <a:t>DATA ANALYTICS AND DATA SCIENCE</a:t>
            </a:r>
          </a:p>
          <a:p>
            <a:pPr algn="r">
              <a:lnSpc>
                <a:spcPct val="100000"/>
              </a:lnSpc>
            </a:pPr>
            <a:r>
              <a:rPr lang="en-GB" sz="1800" dirty="0"/>
              <a:t>RP 33</a:t>
            </a:r>
          </a:p>
          <a:p>
            <a:pPr algn="r">
              <a:lnSpc>
                <a:spcPct val="100000"/>
              </a:lnSpc>
            </a:pPr>
            <a:r>
              <a:rPr lang="en-GB" sz="1800" dirty="0"/>
              <a:t>21-07-2025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936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B94E-5127-C754-E385-8A012B48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365760"/>
            <a:ext cx="10562626" cy="716591"/>
          </a:xfrm>
        </p:spPr>
        <p:txBody>
          <a:bodyPr>
            <a:normAutofit/>
          </a:bodyPr>
          <a:lstStyle/>
          <a:p>
            <a:r>
              <a:rPr lang="en-GB" sz="2800" b="1" dirty="0"/>
              <a:t>OBJECTIVE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34E0-7309-4469-2956-DC94C6535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231641"/>
            <a:ext cx="10562626" cy="526059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/>
              <a:t>To develop a system for soundbar products by leveraging web-scraped data stored in a MySQL database, applying unsupervised learning for automated classification and market segmentation, also perform supervised learning to accurately predict product categories.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800" b="1" dirty="0"/>
              <a:t>DATA COLLECTION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Product - Sound Bars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Source - Amazon (E-commerce website)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Features - Name, Brand, Price, Ratings, Reviews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Data scrapped - 2860 rows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Data converted to CSV file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55692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6FDD-AB2D-BE6D-E9CE-B330960B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94" y="365760"/>
            <a:ext cx="10590618" cy="688599"/>
          </a:xfrm>
        </p:spPr>
        <p:txBody>
          <a:bodyPr>
            <a:normAutofit/>
          </a:bodyPr>
          <a:lstStyle/>
          <a:p>
            <a:r>
              <a:rPr lang="en-GB" sz="2800" b="1" dirty="0"/>
              <a:t>DATA CLEANING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1A68-F4A8-6F97-18C8-DDB767EA8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94" y="1194318"/>
            <a:ext cx="10590618" cy="5297922"/>
          </a:xfrm>
        </p:spPr>
        <p:txBody>
          <a:bodyPr/>
          <a:lstStyle/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Removed missing values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Eliminated duplicate rows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Text Preprocessing - regular expression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Extracted numeric rating from string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Data Type Conversion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Dropping unnecessary columns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Checked outliers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96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DFBC-666E-AD05-9B54-66D8EC62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6" y="365761"/>
            <a:ext cx="10553296" cy="483325"/>
          </a:xfrm>
        </p:spPr>
        <p:txBody>
          <a:bodyPr>
            <a:normAutofit/>
          </a:bodyPr>
          <a:lstStyle/>
          <a:p>
            <a:r>
              <a:rPr lang="en-GB" sz="2800" b="1" dirty="0"/>
              <a:t>EXPLORATORY DATA ANALYSIS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DB00-288A-3D1F-D810-BD54B74D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5" y="849086"/>
            <a:ext cx="10440955" cy="5643153"/>
          </a:xfrm>
        </p:spPr>
        <p:txBody>
          <a:bodyPr/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UNIVARIATE ANALYSIS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800" dirty="0"/>
          </a:p>
          <a:p>
            <a:pPr marL="0" indent="0">
              <a:buClr>
                <a:schemeClr val="accent3">
                  <a:lumMod val="50000"/>
                </a:schemeClr>
              </a:buClr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E0DFF-E85B-8A07-E995-5F416F3F6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9" t="42041" r="41224" b="20000"/>
          <a:stretch>
            <a:fillRect/>
          </a:stretch>
        </p:blipFill>
        <p:spPr>
          <a:xfrm>
            <a:off x="1079242" y="1376300"/>
            <a:ext cx="3555127" cy="2294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8F0E2-23C3-D7F6-9CA7-44C673BAA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3" t="46259" r="41300" b="13877"/>
          <a:stretch>
            <a:fillRect/>
          </a:stretch>
        </p:blipFill>
        <p:spPr>
          <a:xfrm>
            <a:off x="3004457" y="3861955"/>
            <a:ext cx="4063668" cy="2438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AF7FD7-0C90-C7BB-7191-DF34699C6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6" t="51293" r="55995" b="16190"/>
          <a:stretch>
            <a:fillRect/>
          </a:stretch>
        </p:blipFill>
        <p:spPr>
          <a:xfrm>
            <a:off x="5677864" y="1376301"/>
            <a:ext cx="3250162" cy="229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79AB-6944-ED54-9975-6B1E5048B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78" y="365760"/>
            <a:ext cx="10534634" cy="716591"/>
          </a:xfrm>
        </p:spPr>
        <p:txBody>
          <a:bodyPr>
            <a:normAutofit/>
          </a:bodyPr>
          <a:lstStyle/>
          <a:p>
            <a:r>
              <a:rPr lang="en-IN" sz="2800" b="1" dirty="0"/>
              <a:t>BIVARIATE ANALYSIS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40D0857-6BC6-82C8-B14F-9249A0C5A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4" t="28026" r="40459" b="20136"/>
          <a:stretch>
            <a:fillRect/>
          </a:stretch>
        </p:blipFill>
        <p:spPr>
          <a:xfrm>
            <a:off x="419878" y="1292436"/>
            <a:ext cx="4708053" cy="28646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A46495-46D3-6312-E383-BD3AC5BEB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3" t="32653" r="39784" b="19047"/>
          <a:stretch>
            <a:fillRect/>
          </a:stretch>
        </p:blipFill>
        <p:spPr>
          <a:xfrm>
            <a:off x="5756986" y="3429000"/>
            <a:ext cx="4637316" cy="286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8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4D4F2-CB35-7CC0-9963-E18674AE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365760"/>
            <a:ext cx="10525304" cy="520648"/>
          </a:xfrm>
        </p:spPr>
        <p:txBody>
          <a:bodyPr>
            <a:normAutofit/>
          </a:bodyPr>
          <a:lstStyle/>
          <a:p>
            <a:r>
              <a:rPr lang="en-GB" sz="2800" b="1" dirty="0"/>
              <a:t>MULTIVARIATE ANALYSIS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86ABB-1753-B6F0-0899-58C35EC19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7" y="961053"/>
            <a:ext cx="10525303" cy="5449078"/>
          </a:xfrm>
        </p:spPr>
        <p:txBody>
          <a:bodyPr/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 Wireless models influences Price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Brands like Sony, LG, Samsung dominate in wired soundbars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B8C204-CD4B-E2FD-B203-D42270D2A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2" t="43265" r="25000" b="18775"/>
          <a:stretch>
            <a:fillRect/>
          </a:stretch>
        </p:blipFill>
        <p:spPr>
          <a:xfrm>
            <a:off x="1349457" y="2360645"/>
            <a:ext cx="7635922" cy="289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2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9A59-E8C9-8118-C7DB-3133B028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365761"/>
            <a:ext cx="10525304" cy="511318"/>
          </a:xfrm>
        </p:spPr>
        <p:txBody>
          <a:bodyPr>
            <a:normAutofit/>
          </a:bodyPr>
          <a:lstStyle/>
          <a:p>
            <a:r>
              <a:rPr lang="en-GB" sz="2800" b="1" dirty="0"/>
              <a:t>DATA STORAGE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4DFE-523F-5737-6EC3-33CCBE6E4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970383"/>
            <a:ext cx="10525304" cy="5411755"/>
          </a:xfrm>
        </p:spPr>
        <p:txBody>
          <a:bodyPr/>
          <a:lstStyle/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Structured data stored in MySQL Database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Created - Database and Table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Performed a query to fetch all details from the table</a:t>
            </a:r>
          </a:p>
          <a:p>
            <a:pPr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Result stored as a Data Frame</a:t>
            </a:r>
          </a:p>
          <a:p>
            <a:pPr algn="just">
              <a:lnSpc>
                <a:spcPct val="100000"/>
              </a:lnSpc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Retrieved - further analysis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8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800" b="1" dirty="0"/>
              <a:t>DATA PREPROCESSING</a:t>
            </a:r>
          </a:p>
          <a:p>
            <a:pPr algn="just">
              <a:lnSpc>
                <a:spcPct val="100000"/>
              </a:lnSpc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dirty="0"/>
              <a:t>Label Encoding</a:t>
            </a:r>
          </a:p>
          <a:p>
            <a:pPr algn="just">
              <a:lnSpc>
                <a:spcPct val="100000"/>
              </a:lnSpc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 Scaling - </a:t>
            </a:r>
            <a:r>
              <a:rPr lang="en-IN" dirty="0" err="1"/>
              <a:t>StandardScalar</a:t>
            </a:r>
            <a:endParaRPr lang="en-IN" dirty="0"/>
          </a:p>
          <a:p>
            <a:pPr algn="just">
              <a:lnSpc>
                <a:spcPct val="100000"/>
              </a:lnSpc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Dropped columns to avoid redundancy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94A49A-7A77-DE1A-0649-779FB2FA4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17687" r="50944" b="50000"/>
          <a:stretch>
            <a:fillRect/>
          </a:stretch>
        </p:blipFill>
        <p:spPr>
          <a:xfrm>
            <a:off x="6096000" y="811764"/>
            <a:ext cx="4282751" cy="22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10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CC50-ADBF-DB4B-966D-F5EE80E15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78" y="365760"/>
            <a:ext cx="10534634" cy="622507"/>
          </a:xfrm>
        </p:spPr>
        <p:txBody>
          <a:bodyPr>
            <a:normAutofit/>
          </a:bodyPr>
          <a:lstStyle/>
          <a:p>
            <a:r>
              <a:rPr lang="en-GB" sz="2800" b="1" dirty="0"/>
              <a:t>CLUSTERING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4D09C-7B97-98D8-8E13-6B4442389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8" y="1101012"/>
            <a:ext cx="10534634" cy="5391228"/>
          </a:xfrm>
        </p:spPr>
        <p:txBody>
          <a:bodyPr/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Principle component analysis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Dimension reduced – PCA1, PCA2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Visualized 3D clusters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KMeans</a:t>
            </a: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Clustering</a:t>
            </a:r>
            <a:endParaRPr lang="en-US" altLang="en-US" dirty="0"/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Optimal K using Elbow </a:t>
            </a: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3 and Silhouette = 3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Silhouette score = 0.585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Grouped - three clusters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Cluster column concatenated with Data Frame</a:t>
            </a:r>
            <a:endParaRPr lang="en-GB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07AD1A-E943-526A-9936-BA4F8B360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27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5A59D6-0D44-36EB-378B-322B6C90B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8" t="50000" r="53163" b="17415"/>
          <a:stretch>
            <a:fillRect/>
          </a:stretch>
        </p:blipFill>
        <p:spPr>
          <a:xfrm>
            <a:off x="4823926" y="770319"/>
            <a:ext cx="2799184" cy="22346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705A70-2727-4BBC-FC11-8116E5117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0" t="30265" r="47576" b="33333"/>
          <a:stretch>
            <a:fillRect/>
          </a:stretch>
        </p:blipFill>
        <p:spPr>
          <a:xfrm>
            <a:off x="7623110" y="724210"/>
            <a:ext cx="3405673" cy="24964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B735F7-5773-6AE8-5DA6-F995F013F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7" t="38663" r="47041" b="24935"/>
          <a:stretch>
            <a:fillRect/>
          </a:stretch>
        </p:blipFill>
        <p:spPr>
          <a:xfrm>
            <a:off x="7567125" y="3625227"/>
            <a:ext cx="3517641" cy="2496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E09B46-D6FD-5AB0-24F2-52395B452E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6" t="40555" r="46582" b="20680"/>
          <a:stretch>
            <a:fillRect/>
          </a:stretch>
        </p:blipFill>
        <p:spPr>
          <a:xfrm>
            <a:off x="3919230" y="3544232"/>
            <a:ext cx="3517641" cy="265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9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1B20-C2B5-3ABA-F379-AC6F54EA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4" y="365760"/>
            <a:ext cx="10581288" cy="585962"/>
          </a:xfrm>
        </p:spPr>
        <p:txBody>
          <a:bodyPr>
            <a:normAutofit/>
          </a:bodyPr>
          <a:lstStyle/>
          <a:p>
            <a:r>
              <a:rPr lang="en-GB" sz="2800" b="1" dirty="0"/>
              <a:t>SUPERVISED LEARNING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124EA-3892-7342-1751-ED87B3406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24" y="1082352"/>
            <a:ext cx="9484008" cy="5409888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Predict product category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Price, Wattage, Wireless, Channel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Preprocessing – </a:t>
            </a:r>
            <a:r>
              <a:rPr lang="en-IN" dirty="0" err="1"/>
              <a:t>Standardscalar</a:t>
            </a:r>
            <a:r>
              <a:rPr lang="en-IN" dirty="0"/>
              <a:t>, Label encoding, Sampling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Logistic Regression, KNN, SVM, Naive Bayes, Decision Tree, Random Forest, </a:t>
            </a:r>
            <a:r>
              <a:rPr lang="en-IN" dirty="0" err="1"/>
              <a:t>XGBoost</a:t>
            </a:r>
            <a:endParaRPr lang="en-IN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Evaluation metrics, </a:t>
            </a:r>
            <a:r>
              <a:rPr lang="en-IN" dirty="0" err="1"/>
              <a:t>CrossValidation</a:t>
            </a:r>
            <a:r>
              <a:rPr lang="en-IN" dirty="0"/>
              <a:t> - performed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Hyperparameter tuning - best parameters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60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2ADE-A89F-D95A-3C76-E1A9483B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365760"/>
            <a:ext cx="10525304" cy="604624"/>
          </a:xfrm>
        </p:spPr>
        <p:txBody>
          <a:bodyPr>
            <a:normAutofit/>
          </a:bodyPr>
          <a:lstStyle/>
          <a:p>
            <a:r>
              <a:rPr lang="en-GB" sz="2800" b="1" dirty="0"/>
              <a:t>COMPARING ACCURACY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DC284-D04E-83FC-5B9E-A0A106967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7" y="1082352"/>
            <a:ext cx="10525303" cy="5097786"/>
          </a:xfrm>
        </p:spPr>
        <p:txBody>
          <a:bodyPr/>
          <a:lstStyle/>
          <a:p>
            <a:pPr marL="0" indent="0">
              <a:buClr>
                <a:schemeClr val="accent3">
                  <a:lumMod val="50000"/>
                </a:schemeClr>
              </a:buClr>
              <a:buNone/>
            </a:pPr>
            <a:r>
              <a:rPr lang="en-GB" dirty="0"/>
              <a:t>BEFORE TUNING WITHOUT SAMPLING: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Higher accuracy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endParaRPr lang="en-GB" dirty="0"/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Decision Tree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Random Forest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Clr>
                <a:schemeClr val="accent3">
                  <a:lumMod val="50000"/>
                </a:schemeClr>
              </a:buClr>
              <a:buNone/>
            </a:pPr>
            <a:r>
              <a:rPr lang="en-GB" dirty="0"/>
              <a:t>AFTER TUNING WITHOUT SAMPLING: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After tuning - Accuracy 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endParaRPr lang="en-GB" dirty="0"/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Decision Tree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Random Forest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66940B-B518-FA41-76B0-C1EC9C6F6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5" t="62721" r="50000" b="21224"/>
          <a:stretch>
            <a:fillRect/>
          </a:stretch>
        </p:blipFill>
        <p:spPr>
          <a:xfrm>
            <a:off x="5477069" y="3659235"/>
            <a:ext cx="4583317" cy="1575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CF352A-B667-68A6-9557-ED99990EB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2" t="54420" r="50484" b="29526"/>
          <a:stretch>
            <a:fillRect/>
          </a:stretch>
        </p:blipFill>
        <p:spPr>
          <a:xfrm>
            <a:off x="5477068" y="1269782"/>
            <a:ext cx="4525475" cy="15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6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B2BF-56E9-2B1A-1F44-4141EBCC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B905-B3D7-F152-6554-FA0EAD84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365760"/>
            <a:ext cx="10525304" cy="604624"/>
          </a:xfrm>
        </p:spPr>
        <p:txBody>
          <a:bodyPr>
            <a:normAutofit/>
          </a:bodyPr>
          <a:lstStyle/>
          <a:p>
            <a:r>
              <a:rPr lang="en-GB" sz="2800" b="1" dirty="0"/>
              <a:t>COMPARING ACCURACY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7253-8EEA-75B5-2B5E-9FC04608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7" y="1082352"/>
            <a:ext cx="10525303" cy="5097786"/>
          </a:xfrm>
        </p:spPr>
        <p:txBody>
          <a:bodyPr/>
          <a:lstStyle/>
          <a:p>
            <a:pPr marL="0" indent="0">
              <a:buClr>
                <a:schemeClr val="accent3">
                  <a:lumMod val="50000"/>
                </a:schemeClr>
              </a:buClr>
              <a:buNone/>
            </a:pPr>
            <a:r>
              <a:rPr lang="en-GB" dirty="0"/>
              <a:t>BEFORE TUNING WITH SAMPLING: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Higher accuracy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endParaRPr lang="en-GB" dirty="0"/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Decision Tree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Random Forest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Clr>
                <a:schemeClr val="accent3">
                  <a:lumMod val="50000"/>
                </a:schemeClr>
              </a:buClr>
              <a:buNone/>
            </a:pPr>
            <a:r>
              <a:rPr lang="en-GB" dirty="0"/>
              <a:t>AFTER TUNING WITH SAMPLING: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After tuning - Accuracy 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endParaRPr lang="en-GB" dirty="0"/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Decision Tree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/>
              <a:t>Random Forest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2608A-95D0-F5CD-19E4-E3622907E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61" t="51428" r="46428" b="32654"/>
          <a:stretch>
            <a:fillRect/>
          </a:stretch>
        </p:blipFill>
        <p:spPr>
          <a:xfrm>
            <a:off x="5486584" y="1259632"/>
            <a:ext cx="5393094" cy="1569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9E51E-E0A9-3A3A-6149-19EFBFCBC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6" t="71020" r="50000" b="11292"/>
          <a:stretch>
            <a:fillRect/>
          </a:stretch>
        </p:blipFill>
        <p:spPr>
          <a:xfrm>
            <a:off x="5486584" y="3816220"/>
            <a:ext cx="5089290" cy="147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3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DDB3-B9BB-81F7-D11B-4C0A5306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365760"/>
            <a:ext cx="10543965" cy="595293"/>
          </a:xfrm>
        </p:spPr>
        <p:txBody>
          <a:bodyPr>
            <a:normAutofit/>
          </a:bodyPr>
          <a:lstStyle/>
          <a:p>
            <a:r>
              <a:rPr lang="en-GB" sz="2800" b="1" dirty="0"/>
              <a:t>CONCLUSION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B49C-0D8B-1D89-FE0E-B7579833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47" y="1315616"/>
            <a:ext cx="9446685" cy="5176624"/>
          </a:xfrm>
        </p:spPr>
        <p:txBody>
          <a:bodyPr/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Meaningful product grouping using PCA for better clustering</a:t>
            </a:r>
            <a:endParaRPr lang="en-IN" dirty="0"/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Soundbar product classification and prediction performed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Enabled data-driven market segmentation for consumer electronics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Helps manufacturer in product categorization and recommendation systems</a:t>
            </a:r>
          </a:p>
          <a:p>
            <a:pPr marL="0" lvl="0" indent="0">
              <a:buClr>
                <a:schemeClr val="accent3">
                  <a:lumMod val="50000"/>
                </a:schemeClr>
              </a:buClr>
              <a:buNone/>
            </a:pPr>
            <a:endParaRPr lang="en-GB" dirty="0"/>
          </a:p>
          <a:p>
            <a:pPr marL="0" lvl="0" indent="0">
              <a:buClr>
                <a:schemeClr val="accent3">
                  <a:lumMod val="50000"/>
                </a:schemeClr>
              </a:buClr>
              <a:buNone/>
            </a:pPr>
            <a:r>
              <a:rPr lang="en-GB" sz="2800" b="1" dirty="0"/>
              <a:t>FUTURE SCOPE:</a:t>
            </a:r>
          </a:p>
          <a:p>
            <a:pPr lvl="0"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Integrate sentiment analysis from reviews</a:t>
            </a:r>
          </a:p>
          <a:p>
            <a:pPr lvl="0" algn="just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/>
              <a:t>Deploy model as a recommendation engine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29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D20E-EA7C-705E-F2B2-663595F3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276" y="1996751"/>
            <a:ext cx="9692640" cy="1791478"/>
          </a:xfrm>
        </p:spPr>
        <p:txBody>
          <a:bodyPr/>
          <a:lstStyle/>
          <a:p>
            <a:pPr algn="ctr"/>
            <a:r>
              <a:rPr lang="en-GB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1612707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375</TotalTime>
  <Words>380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Wingdings 2</vt:lpstr>
      <vt:lpstr>View</vt:lpstr>
      <vt:lpstr>SOUND BAR CATEGORY CLUSTERING - PREDICTION AND ANALYSIS</vt:lpstr>
      <vt:lpstr>OBJECTIVE</vt:lpstr>
      <vt:lpstr>DATA CLEANING</vt:lpstr>
      <vt:lpstr>EXPLORATORY DATA ANALYSIS</vt:lpstr>
      <vt:lpstr>BIVARIATE ANALYSIS</vt:lpstr>
      <vt:lpstr>MULTIVARIATE ANALYSIS</vt:lpstr>
      <vt:lpstr>DATA STORAGE</vt:lpstr>
      <vt:lpstr>CLUSTERING</vt:lpstr>
      <vt:lpstr>SUPERVISED LEARNING</vt:lpstr>
      <vt:lpstr>COMPARING ACCURACY</vt:lpstr>
      <vt:lpstr>COMPARING ACCURACY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veena !</dc:creator>
  <cp:lastModifiedBy>veena !</cp:lastModifiedBy>
  <cp:revision>5</cp:revision>
  <dcterms:created xsi:type="dcterms:W3CDTF">2025-07-21T00:45:25Z</dcterms:created>
  <dcterms:modified xsi:type="dcterms:W3CDTF">2025-07-21T07:01:22Z</dcterms:modified>
</cp:coreProperties>
</file>